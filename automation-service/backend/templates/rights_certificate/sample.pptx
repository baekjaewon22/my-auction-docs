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6797675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36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3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899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97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051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39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24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880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10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907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44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30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86AD3-25A7-441C-99EE-67C757D1FD1E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61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F87168-AFA6-5B7B-E66F-E126DA5C9C0B}"/>
              </a:ext>
            </a:extLst>
          </p:cNvPr>
          <p:cNvSpPr txBox="1"/>
          <p:nvPr/>
        </p:nvSpPr>
        <p:spPr>
          <a:xfrm>
            <a:off x="3721608" y="2649424"/>
            <a:ext cx="1877437" cy="506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작성자</a:t>
            </a:r>
            <a:r>
              <a:rPr lang="en-US" altLang="ko-KR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:</a:t>
            </a:r>
            <a:r>
              <a:rPr lang="en-US" altLang="ko-KR" sz="1200" u="sng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200" u="sng" dirty="0">
                <a:latin typeface="바탕체" panose="02030609000101010101" pitchFamily="17" charset="-127"/>
                <a:ea typeface="바탕체" panose="02030609000101010101" pitchFamily="17" charset="-127"/>
              </a:rPr>
              <a:t>홍 길 동</a:t>
            </a:r>
            <a:r>
              <a:rPr lang="en-US" altLang="ko-KR" sz="1200" u="sng" dirty="0">
                <a:latin typeface="바탕체" panose="02030609000101010101" pitchFamily="17" charset="-127"/>
                <a:ea typeface="바탕체" panose="02030609000101010101" pitchFamily="17" charset="-127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작성일</a:t>
            </a:r>
            <a:r>
              <a:rPr lang="en-US" altLang="ko-KR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:2024</a:t>
            </a:r>
            <a:r>
              <a:rPr lang="ko-KR" altLang="en-US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년 </a:t>
            </a:r>
            <a:r>
              <a:rPr lang="en-US" altLang="ko-KR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1</a:t>
            </a:r>
            <a:r>
              <a:rPr lang="ko-KR" altLang="en-US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월 </a:t>
            </a:r>
            <a:r>
              <a:rPr lang="en-US" altLang="ko-KR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1</a:t>
            </a:r>
            <a:r>
              <a:rPr lang="ko-KR" altLang="en-US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일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A4FB22C-33B9-6F6F-515E-98A0B87F8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898560"/>
              </p:ext>
            </p:extLst>
          </p:nvPr>
        </p:nvGraphicFramePr>
        <p:xfrm>
          <a:off x="922149" y="3345796"/>
          <a:ext cx="5013702" cy="43159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1. </a:t>
                      </a:r>
                      <a:r>
                        <a:rPr lang="ko-KR" altLang="en-US" sz="1200" b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말소기준 및 등기부상 소멸사항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58128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최선순위 </a:t>
                      </a:r>
                      <a:r>
                        <a:rPr lang="en-US" altLang="ko-KR" sz="100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2022.01.10.</a:t>
                      </a:r>
                      <a:r>
                        <a:rPr lang="ko-KR" altLang="en-US" sz="100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일자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근저당권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[</a:t>
                      </a:r>
                      <a:r>
                        <a:rPr lang="ko-KR" altLang="en-US" sz="100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달월신협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] 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말소기준권리 및 이후 모든 권리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말소되므로 등기부상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낙찰자에게 인수되는 권리는 없습니다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29738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2. </a:t>
                      </a:r>
                      <a:r>
                        <a:rPr lang="ko-KR" altLang="en-US" sz="12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임차권리</a:t>
                      </a:r>
                      <a:r>
                        <a:rPr lang="ko-KR" altLang="en-US" sz="12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2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인수사항</a:t>
                      </a:r>
                      <a:endParaRPr lang="ko-KR" altLang="en-US" sz="12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22363"/>
                  </a:ext>
                </a:extLst>
              </a:tr>
              <a:tr h="4358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한ㅇㅇ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전입일자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:2022.02.10.,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확정일자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없음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., 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배당요구일자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없음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00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이ㅇㅇ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전입일자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:2022.02.21.,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확정일자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:2022.02.09.,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배당요구일자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:2022.08.04.</a:t>
                      </a:r>
                    </a:p>
                    <a:p>
                      <a:pPr latinLnBrk="1"/>
                      <a:r>
                        <a:rPr lang="ko-KR" altLang="en-US" sz="100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김ㅇㅇ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전입일자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:2022.03.16.,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확정일자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:2022.03.02.,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배당요구일자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:2022.07.22.</a:t>
                      </a:r>
                    </a:p>
                    <a:p>
                      <a:pPr latinLnBrk="1"/>
                      <a:r>
                        <a:rPr lang="ko-KR" altLang="en-US" sz="100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정ㅇㅇ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전입일자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:2022.04.08.,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확정일자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:2022.05.09.,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배당요구일자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:2022.07.18.</a:t>
                      </a:r>
                    </a:p>
                    <a:p>
                      <a:pPr latinLnBrk="1"/>
                      <a:endParaRPr lang="en-US" altLang="ko-KR" sz="100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최선순위일자 기준 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4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명의 임차인 모두 후순위로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낙찰자에게 인수되는 권리는 없음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  <a:endParaRPr lang="ko-KR" altLang="en-US" sz="100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5369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3. </a:t>
                      </a:r>
                      <a:r>
                        <a:rPr lang="ko-KR" altLang="en-US" sz="12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경매취하</a:t>
                      </a:r>
                      <a:r>
                        <a:rPr lang="ko-KR" altLang="en-US" sz="12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en-US" altLang="ko-KR" sz="12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/ </a:t>
                      </a:r>
                      <a:r>
                        <a:rPr lang="ko-KR" altLang="en-US" sz="12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무잉여</a:t>
                      </a:r>
                      <a:r>
                        <a:rPr lang="ko-KR" altLang="en-US" sz="12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가능성</a:t>
                      </a:r>
                      <a:endParaRPr lang="en-US" altLang="ko-KR" sz="12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9284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경매신청권자가 달월신협으로 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1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순위 </a:t>
                      </a:r>
                      <a:r>
                        <a:rPr lang="ko-KR" altLang="en-US" sz="100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근저당권자입니다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낙찰 후 배당 순위가 </a:t>
                      </a:r>
                      <a:r>
                        <a:rPr lang="en-US" altLang="ko-KR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1</a:t>
                      </a:r>
                      <a:r>
                        <a:rPr lang="ko-KR" altLang="en-US" sz="100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순위로 </a:t>
                      </a:r>
                      <a:r>
                        <a:rPr lang="ko-KR" altLang="en-US" sz="1000" dirty="0" err="1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경매취하</a:t>
                      </a:r>
                      <a:r>
                        <a:rPr lang="en-US" altLang="ko-KR" sz="100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무잉여</a:t>
                      </a:r>
                      <a:r>
                        <a:rPr lang="ko-KR" altLang="en-US" sz="100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가능성은 없을 것으로 예상합니다</a:t>
                      </a:r>
                      <a:r>
                        <a:rPr lang="en-US" altLang="ko-KR" sz="100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465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4. </a:t>
                      </a:r>
                      <a:r>
                        <a:rPr lang="ko-KR" altLang="en-US" sz="12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특이사항</a:t>
                      </a:r>
                      <a:endParaRPr lang="en-US" altLang="ko-KR" sz="12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3675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임차인 </a:t>
                      </a:r>
                      <a:r>
                        <a:rPr lang="ko-KR" altLang="en-US" sz="1000" b="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한ㅇㅇ은</a:t>
                      </a: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b="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전입신고만</a:t>
                      </a: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되어있고 </a:t>
                      </a:r>
                      <a:r>
                        <a:rPr lang="ko-KR" altLang="en-US" sz="1000" b="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권리신고</a:t>
                      </a:r>
                      <a:r>
                        <a:rPr lang="en-US" altLang="ko-KR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,</a:t>
                      </a: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확정일자</a:t>
                      </a:r>
                      <a:r>
                        <a:rPr lang="en-US" altLang="ko-KR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, </a:t>
                      </a: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배당요구를 하지 않아 진정한 임차인이더라도 보증금을 </a:t>
                      </a:r>
                      <a:r>
                        <a:rPr lang="ko-KR" altLang="en-US" sz="1000" b="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배당받아</a:t>
                      </a: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갈 수 없습니다</a:t>
                      </a:r>
                      <a:r>
                        <a:rPr lang="en-US" altLang="ko-KR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  <a:p>
                      <a:pPr marL="228600" indent="-228600" latinLnBrk="1">
                        <a:buFont typeface="+mj-lt"/>
                        <a:buAutoNum type="arabicParenR"/>
                      </a:pP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임차인 </a:t>
                      </a:r>
                      <a:r>
                        <a:rPr lang="ko-KR" altLang="en-US" sz="1000" b="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이ㅇㅇ</a:t>
                      </a:r>
                      <a:r>
                        <a:rPr lang="en-US" altLang="ko-KR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, </a:t>
                      </a:r>
                      <a:r>
                        <a:rPr lang="ko-KR" altLang="en-US" sz="1000" b="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김ㅇㅇ</a:t>
                      </a:r>
                      <a:r>
                        <a:rPr lang="en-US" altLang="ko-KR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, </a:t>
                      </a:r>
                      <a:r>
                        <a:rPr lang="ko-KR" altLang="en-US" sz="1000" b="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정ㅇㅇ</a:t>
                      </a: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세명 모두 확정일자</a:t>
                      </a:r>
                      <a:r>
                        <a:rPr lang="en-US" altLang="ko-KR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, </a:t>
                      </a: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배당요구를 하였지만</a:t>
                      </a:r>
                      <a:r>
                        <a:rPr lang="en-US" altLang="ko-KR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, </a:t>
                      </a: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최선순위 근저당 </a:t>
                      </a:r>
                      <a:r>
                        <a:rPr lang="ko-KR" altLang="en-US" sz="1000" b="0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설정일자</a:t>
                      </a: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기준 주택임대차보호법 </a:t>
                      </a:r>
                      <a:r>
                        <a:rPr lang="ko-KR" altLang="en-US" sz="1000" b="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최우선변제금</a:t>
                      </a:r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(1</a:t>
                      </a:r>
                      <a:r>
                        <a:rPr lang="ko-KR" altLang="en-US" sz="1000" b="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억</a:t>
                      </a:r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3,000</a:t>
                      </a:r>
                      <a:r>
                        <a:rPr lang="ko-KR" altLang="en-US" sz="1000" b="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만원</a:t>
                      </a:r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  <a:r>
                        <a:rPr lang="ko-KR" altLang="en-US" sz="1000" b="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에 해당되지 않고 임차인 보증금 범위를 벗어나 배당 받아갈 수 없을 것으로 예상합니다</a:t>
                      </a:r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  <a:p>
                      <a:pPr marL="228600" indent="-228600" latinLnBrk="1">
                        <a:buFont typeface="+mj-lt"/>
                        <a:buAutoNum type="arabicParenR"/>
                      </a:pPr>
                      <a:r>
                        <a:rPr lang="ko-KR" altLang="en-US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이러한 이유로 임차인들이 무리한 이사 비용을 요구할 수 있으니 명도 계획을세우고 경매 참여하길 바랍니다</a:t>
                      </a:r>
                      <a:r>
                        <a:rPr lang="en-US" altLang="ko-KR" sz="10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2816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B349FE8-F204-2BA4-FBA4-CC5C09E5DE94}"/>
              </a:ext>
            </a:extLst>
          </p:cNvPr>
          <p:cNvSpPr txBox="1"/>
          <p:nvPr/>
        </p:nvSpPr>
        <p:spPr>
          <a:xfrm>
            <a:off x="1138486" y="2649424"/>
            <a:ext cx="1954381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사건번호</a:t>
            </a:r>
            <a:r>
              <a:rPr lang="en-US" altLang="ko-KR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: 2024</a:t>
            </a:r>
            <a:r>
              <a:rPr lang="ko-KR" altLang="en-US" sz="1200" dirty="0" err="1">
                <a:latin typeface="바탕체" panose="02030609000101010101" pitchFamily="17" charset="-127"/>
                <a:ea typeface="바탕체" panose="02030609000101010101" pitchFamily="17" charset="-127"/>
              </a:rPr>
              <a:t>타경</a:t>
            </a:r>
            <a:r>
              <a:rPr lang="en-US" altLang="ko-KR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00000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바탕체" panose="02030609000101010101" pitchFamily="17" charset="-127"/>
                <a:ea typeface="바탕체" panose="02030609000101010101" pitchFamily="17" charset="-127"/>
              </a:rPr>
              <a:t>의정부지방법원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5A39CEB8-9758-EFAE-F30D-5A56C96C0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371300"/>
              </p:ext>
            </p:extLst>
          </p:nvPr>
        </p:nvGraphicFramePr>
        <p:xfrm>
          <a:off x="922149" y="9225898"/>
          <a:ext cx="5013702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28713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본 보증서는 의뢰인과 의뢰인의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직계존비속에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한해 유효합니다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권리분석 의뢰 후 변경되는 권리에 대한 사항은 고객이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요청시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마이옥션이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확인하여 보증서를 재발급해드리고 기존 보증서는 효력이 없음을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고지드립니다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</a:txBody>
                  <a:tcPr>
                    <a:solidFill>
                      <a:srgbClr val="FFFFFF">
                        <a:alpha val="7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81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84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765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</TotalTime>
  <Words>244</Words>
  <Application>Microsoft Office PowerPoint</Application>
  <PresentationFormat>A4 용지(210x297mm)</PresentationFormat>
  <Paragraphs>23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바탕체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 Sung Song</dc:creator>
  <cp:lastModifiedBy>김영훈</cp:lastModifiedBy>
  <cp:revision>26</cp:revision>
  <cp:lastPrinted>2022-06-27T07:02:32Z</cp:lastPrinted>
  <dcterms:created xsi:type="dcterms:W3CDTF">2022-06-27T05:44:38Z</dcterms:created>
  <dcterms:modified xsi:type="dcterms:W3CDTF">2024-12-20T01:00:59Z</dcterms:modified>
</cp:coreProperties>
</file>