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59" r:id="rId4"/>
    <p:sldId id="257" r:id="rId5"/>
  </p:sldIdLst>
  <p:sldSz cx="6858000" cy="9906000" type="A4"/>
  <p:notesSz cx="6797675" cy="9929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85" autoAdjust="0"/>
    <p:restoredTop sz="94660"/>
  </p:normalViewPr>
  <p:slideViewPr>
    <p:cSldViewPr snapToGrid="0">
      <p:cViewPr>
        <p:scale>
          <a:sx n="125" d="100"/>
          <a:sy n="125" d="100"/>
        </p:scale>
        <p:origin x="840" y="-1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131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899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975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051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390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240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880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101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907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44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6AD3-25A7-441C-99EE-67C757D1FD1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30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86AD3-25A7-441C-99EE-67C757D1FD1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66DF3-58E3-405A-B87A-2A1093A5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613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EFB87-481A-FAAF-A843-2D36F9EA8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6F1C68-4853-0349-7233-A83BAD6C31EC}"/>
              </a:ext>
            </a:extLst>
          </p:cNvPr>
          <p:cNvSpPr txBox="1"/>
          <p:nvPr/>
        </p:nvSpPr>
        <p:spPr>
          <a:xfrm>
            <a:off x="3981470" y="2772534"/>
            <a:ext cx="1954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바탕체"/>
                <a:ea typeface="맑은 고딕" panose="020B0503020000020004" pitchFamily="50" charset="-127"/>
                <a:cs typeface="+mn-cs"/>
              </a:rPr>
              <a:t>작성일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바탕체"/>
                <a:ea typeface="+mn-ea"/>
                <a:cs typeface="+mn-cs"/>
              </a:rPr>
              <a:t>: {{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바탕체"/>
                <a:ea typeface="+mn-ea"/>
                <a:cs typeface="+mn-cs"/>
              </a:rPr>
              <a:t>createdDate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바탕체"/>
                <a:ea typeface="+mn-ea"/>
                <a:cs typeface="+mn-cs"/>
              </a:rPr>
              <a:t>}}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A055D79-9F04-C5CA-2652-C641C8EA5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31011"/>
              </p:ext>
            </p:extLst>
          </p:nvPr>
        </p:nvGraphicFramePr>
        <p:xfrm>
          <a:off x="922149" y="3345796"/>
          <a:ext cx="5013702" cy="18775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3702">
                  <a:extLst>
                    <a:ext uri="{9D8B030D-6E8A-4147-A177-3AD203B41FA5}">
                      <a16:colId xmlns:a16="http://schemas.microsoft.com/office/drawing/2014/main" val="28378826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sz="1200" b="1" dirty="0">
                          <a:latin typeface="바탕체"/>
                        </a:rPr>
                        <a:t>1. </a:t>
                      </a:r>
                      <a:r>
                        <a:rPr lang="ko-KR" altLang="en-US" sz="1200" b="1" dirty="0">
                          <a:latin typeface="바탕체"/>
                        </a:rPr>
                        <a:t>말소기준 및 등기부상 소멸사항</a:t>
                      </a:r>
                      <a:endParaRPr sz="1200" b="1" dirty="0">
                        <a:latin typeface="바탕체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58128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latinLnBrk="1"/>
                      <a:r>
                        <a:rPr sz="1000" dirty="0">
                          <a:solidFill>
                            <a:srgbClr val="0070C0"/>
                          </a:solidFill>
                          <a:latin typeface="바탕체"/>
                        </a:rPr>
                        <a:t>{{</a:t>
                      </a:r>
                      <a:r>
                        <a:rPr sz="1000" dirty="0" err="1">
                          <a:solidFill>
                            <a:srgbClr val="0070C0"/>
                          </a:solidFill>
                          <a:latin typeface="바탕체"/>
                        </a:rPr>
                        <a:t>baseRightDescription</a:t>
                      </a:r>
                      <a:r>
                        <a:rPr sz="1000" dirty="0">
                          <a:solidFill>
                            <a:srgbClr val="0070C0"/>
                          </a:solidFill>
                          <a:latin typeface="바탕체"/>
                        </a:rPr>
                        <a:t>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29738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sz="1200" b="1" dirty="0">
                          <a:latin typeface="바탕체"/>
                        </a:rPr>
                        <a:t>2. </a:t>
                      </a:r>
                      <a:r>
                        <a:rPr lang="ko-KR" altLang="en-US" sz="1200" b="1" dirty="0">
                          <a:latin typeface="바탕체"/>
                        </a:rPr>
                        <a:t>임차권리 인수사항</a:t>
                      </a:r>
                      <a:endParaRPr lang="ko-KR" altLang="en-US" sz="1200" b="1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622363"/>
                  </a:ext>
                </a:extLst>
              </a:tr>
              <a:tr h="435863">
                <a:tc>
                  <a:txBody>
                    <a:bodyPr/>
                    <a:lstStyle/>
                    <a:p>
                      <a:pPr latinLnBrk="1"/>
                      <a:r>
                        <a:rPr sz="1000">
                          <a:latin typeface="바탕체"/>
                        </a:rPr>
                        <a:t>{{tenantAnalysisText}}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5369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sz="1200" b="1" dirty="0">
                          <a:latin typeface="바탕체"/>
                        </a:rPr>
                        <a:t>3. </a:t>
                      </a:r>
                      <a:r>
                        <a:rPr lang="ko-KR" altLang="en-US" sz="1200" b="1" dirty="0" err="1">
                          <a:latin typeface="바탕체"/>
                        </a:rPr>
                        <a:t>경매취하</a:t>
                      </a:r>
                      <a:r>
                        <a:rPr lang="en-US" altLang="ko-KR" sz="1200" b="1" dirty="0">
                          <a:latin typeface="바탕체"/>
                        </a:rPr>
                        <a:t> / </a:t>
                      </a:r>
                      <a:r>
                        <a:rPr lang="ko-KR" altLang="en-US" sz="1200" b="1" dirty="0" err="1">
                          <a:latin typeface="바탕체"/>
                        </a:rPr>
                        <a:t>무잉여</a:t>
                      </a:r>
                      <a:r>
                        <a:rPr lang="ko-KR" altLang="en-US" sz="1200" b="1" dirty="0">
                          <a:latin typeface="바탕체"/>
                        </a:rPr>
                        <a:t> 가능성</a:t>
                      </a:r>
                      <a:endParaRPr lang="en-US" altLang="ko-KR" sz="1200" b="1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92840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latinLnBrk="1"/>
                      <a:r>
                        <a:rPr sz="1000" dirty="0">
                          <a:latin typeface="바탕체"/>
                        </a:rPr>
                        <a:t>{{</a:t>
                      </a:r>
                      <a:r>
                        <a:rPr sz="1000" dirty="0" err="1">
                          <a:latin typeface="바탕체"/>
                        </a:rPr>
                        <a:t>surplusDescription</a:t>
                      </a:r>
                      <a:r>
                        <a:rPr sz="1000" dirty="0">
                          <a:latin typeface="바탕체"/>
                        </a:rPr>
                        <a:t>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4650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825C4C1-E65F-67BD-A66A-2198C5089743}"/>
              </a:ext>
            </a:extLst>
          </p:cNvPr>
          <p:cNvSpPr txBox="1"/>
          <p:nvPr/>
        </p:nvSpPr>
        <p:spPr>
          <a:xfrm>
            <a:off x="922149" y="2649424"/>
            <a:ext cx="21356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사건번호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{{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caseNumber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{{court}}</a:t>
            </a:r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4F99B1DC-AAE9-D0B4-F9A9-A1643F21203D}"/>
              </a:ext>
            </a:extLst>
          </p:cNvPr>
          <p:cNvGraphicFramePr>
            <a:graphicFrameLocks noGrp="1"/>
          </p:cNvGraphicFramePr>
          <p:nvPr/>
        </p:nvGraphicFramePr>
        <p:xfrm>
          <a:off x="922149" y="9225898"/>
          <a:ext cx="5013702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3702">
                  <a:extLst>
                    <a:ext uri="{9D8B030D-6E8A-4147-A177-3AD203B41FA5}">
                      <a16:colId xmlns:a16="http://schemas.microsoft.com/office/drawing/2014/main" val="2837882607"/>
                    </a:ext>
                  </a:extLst>
                </a:gridCol>
              </a:tblGrid>
              <a:tr h="28713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※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본 보증서는 의뢰인과 의뢰인의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직계존비속에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한해 유효합니다</a:t>
                      </a: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※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권리분석 의뢰 후 변경되는 권리에 대한 사항은 고객이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요청시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마이옥션이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확인하여 보증서를 재발급해드리고 기존 보증서는 효력이 없음을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고지드립니다</a:t>
                      </a: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</a:txBody>
                  <a:tcPr>
                    <a:solidFill>
                      <a:srgbClr val="FFFFFF">
                        <a:alpha val="7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281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17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2A4FB22C-33B9-6F6F-515E-98A0B87F8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605789"/>
              </p:ext>
            </p:extLst>
          </p:nvPr>
        </p:nvGraphicFramePr>
        <p:xfrm>
          <a:off x="922149" y="2644756"/>
          <a:ext cx="5013702" cy="5989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3702">
                  <a:extLst>
                    <a:ext uri="{9D8B030D-6E8A-4147-A177-3AD203B41FA5}">
                      <a16:colId xmlns:a16="http://schemas.microsoft.com/office/drawing/2014/main" val="28378826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sz="1200" b="1" dirty="0">
                          <a:latin typeface="바탕체"/>
                        </a:rPr>
                        <a:t>4. </a:t>
                      </a:r>
                      <a:r>
                        <a:rPr lang="ko-KR" altLang="en-US" sz="1200" b="1" dirty="0">
                          <a:latin typeface="바탕체"/>
                        </a:rPr>
                        <a:t>특이사항</a:t>
                      </a:r>
                      <a:endParaRPr lang="en-US" altLang="ko-KR" sz="1200" b="1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3675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dirty="0"/>
                        <a:t>{{</a:t>
                      </a:r>
                      <a:r>
                        <a:rPr dirty="0" err="1"/>
                        <a:t>specialSummaryText</a:t>
                      </a:r>
                      <a:r>
                        <a:rPr dirty="0"/>
                        <a:t>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281624"/>
                  </a:ext>
                </a:extLst>
              </a:tr>
            </a:tbl>
          </a:graphicData>
        </a:graphic>
      </p:graphicFrame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5A39CEB8-9758-EFAE-F30D-5A56C96C0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703581"/>
              </p:ext>
            </p:extLst>
          </p:nvPr>
        </p:nvGraphicFramePr>
        <p:xfrm>
          <a:off x="922149" y="9225898"/>
          <a:ext cx="5013702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3702">
                  <a:extLst>
                    <a:ext uri="{9D8B030D-6E8A-4147-A177-3AD203B41FA5}">
                      <a16:colId xmlns:a16="http://schemas.microsoft.com/office/drawing/2014/main" val="2837882607"/>
                    </a:ext>
                  </a:extLst>
                </a:gridCol>
              </a:tblGrid>
              <a:tr h="28713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※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본 보증서는 의뢰인과 의뢰인의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직계존비속에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한해 유효합니다</a:t>
                      </a: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※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권리분석 의뢰 후 변경되는 권리에 대한 사항은 고객이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요청시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마이옥션이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확인하여 보증서를 재발급해드리고 기존 보증서는 효력이 없음을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고지드립니다</a:t>
                      </a: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</a:txBody>
                  <a:tcPr>
                    <a:solidFill>
                      <a:srgbClr val="FFFFFF">
                        <a:alpha val="7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281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2848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83642-E81B-7AF7-6261-7A407BB4D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5DB1DA2-8CF0-A326-B26D-3A0A53271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286444"/>
              </p:ext>
            </p:extLst>
          </p:nvPr>
        </p:nvGraphicFramePr>
        <p:xfrm>
          <a:off x="922149" y="2677668"/>
          <a:ext cx="5013702" cy="45506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3702">
                  <a:extLst>
                    <a:ext uri="{9D8B030D-6E8A-4147-A177-3AD203B41FA5}">
                      <a16:colId xmlns:a16="http://schemas.microsoft.com/office/drawing/2014/main" val="28378826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dirty="0">
                          <a:latin typeface="바탕체"/>
                        </a:rPr>
                        <a:t># </a:t>
                      </a:r>
                      <a:r>
                        <a:rPr lang="ko-KR" altLang="en-US" sz="1100" b="1" dirty="0">
                          <a:latin typeface="바탕체"/>
                        </a:rPr>
                        <a:t>체납관리비 </a:t>
                      </a:r>
                      <a:r>
                        <a:rPr lang="en-US" altLang="ko-KR" sz="1100" b="1" dirty="0">
                          <a:latin typeface="바탕체"/>
                        </a:rPr>
                        <a:t>?</a:t>
                      </a:r>
                    </a:p>
                    <a:p>
                      <a:pPr latinLnBrk="1"/>
                      <a:endParaRPr lang="en-US" altLang="ko-KR" sz="1100" b="1" dirty="0">
                        <a:latin typeface="바탕체"/>
                      </a:endParaRPr>
                    </a:p>
                    <a:p>
                      <a:pPr latinLnBrk="1"/>
                      <a:r>
                        <a:rPr lang="en-US" altLang="ko-KR" sz="1100" b="1" dirty="0">
                          <a:latin typeface="바탕체"/>
                        </a:rPr>
                        <a:t>*</a:t>
                      </a:r>
                      <a:r>
                        <a:rPr lang="ko-KR" altLang="en-US" sz="1100" b="1" dirty="0">
                          <a:latin typeface="바탕체"/>
                        </a:rPr>
                        <a:t>관리비 채권의 소멸시효는 </a:t>
                      </a:r>
                      <a:r>
                        <a:rPr lang="en-US" altLang="ko-KR" sz="1100" b="1" dirty="0">
                          <a:latin typeface="바탕체"/>
                        </a:rPr>
                        <a:t>3</a:t>
                      </a:r>
                      <a:r>
                        <a:rPr lang="ko-KR" altLang="en-US" sz="1100" b="1" dirty="0">
                          <a:latin typeface="바탕체"/>
                        </a:rPr>
                        <a:t>년으로 前소유자가 체납한 공용부분 관리비가 존재하더라도 그 중에서 </a:t>
                      </a:r>
                      <a:r>
                        <a:rPr lang="en-US" altLang="ko-KR" sz="1100" b="1" dirty="0">
                          <a:latin typeface="바탕체"/>
                        </a:rPr>
                        <a:t>3</a:t>
                      </a:r>
                      <a:r>
                        <a:rPr lang="ko-KR" altLang="en-US" sz="1100" b="1" dirty="0">
                          <a:latin typeface="바탕체"/>
                        </a:rPr>
                        <a:t>년이 경과된 관리비에 대해선</a:t>
                      </a:r>
                    </a:p>
                    <a:p>
                      <a:pPr latinLnBrk="1"/>
                      <a:r>
                        <a:rPr lang="ko-KR" altLang="en-US" sz="1100" b="1" dirty="0">
                          <a:latin typeface="바탕체"/>
                        </a:rPr>
                        <a:t>낙찰자는 前소유자의 소멸시효 항변권을 원용하여 그 채권에 대해선 부담하지 않을 수 있습니다</a:t>
                      </a:r>
                      <a:r>
                        <a:rPr lang="en-US" altLang="ko-KR" sz="1100" b="1" dirty="0">
                          <a:latin typeface="바탕체"/>
                        </a:rPr>
                        <a:t>.</a:t>
                      </a:r>
                    </a:p>
                    <a:p>
                      <a:pPr latinLnBrk="1"/>
                      <a:endParaRPr lang="en-US" altLang="ko-KR" sz="1100" b="1" dirty="0">
                        <a:latin typeface="바탕체"/>
                      </a:endParaRPr>
                    </a:p>
                    <a:p>
                      <a:pPr latinLnBrk="1"/>
                      <a:r>
                        <a:rPr lang="ko-KR" altLang="en-US" sz="1100" b="1" dirty="0">
                          <a:latin typeface="바탕체"/>
                        </a:rPr>
                        <a:t>민법</a:t>
                      </a:r>
                      <a:r>
                        <a:rPr lang="en-US" altLang="ko-KR" sz="1100" b="1" dirty="0">
                          <a:latin typeface="바탕체"/>
                        </a:rPr>
                        <a:t>163</a:t>
                      </a:r>
                      <a:r>
                        <a:rPr lang="ko-KR" altLang="en-US" sz="1100" b="1" dirty="0">
                          <a:latin typeface="바탕체"/>
                        </a:rPr>
                        <a:t>조에서 </a:t>
                      </a:r>
                      <a:r>
                        <a:rPr lang="en-US" altLang="ko-KR" sz="1100" b="1" dirty="0">
                          <a:latin typeface="바탕체"/>
                        </a:rPr>
                        <a:t>3</a:t>
                      </a:r>
                      <a:r>
                        <a:rPr lang="ko-KR" altLang="en-US" sz="1100" b="1" dirty="0">
                          <a:latin typeface="바탕체"/>
                        </a:rPr>
                        <a:t>년의 </a:t>
                      </a:r>
                      <a:r>
                        <a:rPr lang="ko-KR" altLang="en-US" sz="1100" b="1" dirty="0" err="1">
                          <a:latin typeface="바탕체"/>
                        </a:rPr>
                        <a:t>단기소멸시효에</a:t>
                      </a:r>
                      <a:r>
                        <a:rPr lang="ko-KR" altLang="en-US" sz="1100" b="1" dirty="0">
                          <a:latin typeface="바탕체"/>
                        </a:rPr>
                        <a:t> 걸리는 채권은 </a:t>
                      </a:r>
                      <a:r>
                        <a:rPr lang="en-US" altLang="ko-KR" sz="1100" b="1" dirty="0">
                          <a:latin typeface="바탕체"/>
                        </a:rPr>
                        <a:t>1</a:t>
                      </a:r>
                      <a:r>
                        <a:rPr lang="ko-KR" altLang="en-US" sz="1100" b="1" dirty="0">
                          <a:latin typeface="바탕체"/>
                        </a:rPr>
                        <a:t>년 이내의 기간으로 정한 채권으로 </a:t>
                      </a:r>
                      <a:r>
                        <a:rPr lang="en-US" altLang="ko-KR" sz="1100" b="1" dirty="0">
                          <a:latin typeface="바탕체"/>
                        </a:rPr>
                        <a:t>1</a:t>
                      </a:r>
                      <a:r>
                        <a:rPr lang="ko-KR" altLang="en-US" sz="1100" b="1" dirty="0">
                          <a:latin typeface="바탕체"/>
                        </a:rPr>
                        <a:t>개월 단위로 지급 </a:t>
                      </a:r>
                      <a:r>
                        <a:rPr lang="ko-KR" altLang="en-US" sz="1100" b="1" dirty="0" err="1">
                          <a:latin typeface="바탕체"/>
                        </a:rPr>
                        <a:t>해야하는</a:t>
                      </a:r>
                      <a:r>
                        <a:rPr lang="ko-KR" altLang="en-US" sz="1100" b="1" dirty="0">
                          <a:latin typeface="바탕체"/>
                        </a:rPr>
                        <a:t> 집합건물의</a:t>
                      </a:r>
                    </a:p>
                    <a:p>
                      <a:pPr latinLnBrk="1"/>
                      <a:r>
                        <a:rPr lang="ko-KR" altLang="en-US" sz="1100" b="1" dirty="0">
                          <a:latin typeface="바탕체"/>
                        </a:rPr>
                        <a:t>관리비는 이에 해당이 됩니다</a:t>
                      </a:r>
                      <a:r>
                        <a:rPr lang="en-US" altLang="ko-KR" sz="1100" b="1" dirty="0">
                          <a:latin typeface="바탕체"/>
                        </a:rPr>
                        <a:t>. (</a:t>
                      </a:r>
                      <a:r>
                        <a:rPr lang="ko-KR" altLang="en-US" sz="1100" b="1" dirty="0">
                          <a:latin typeface="바탕체"/>
                        </a:rPr>
                        <a:t>대법원 </a:t>
                      </a:r>
                      <a:r>
                        <a:rPr lang="en-US" altLang="ko-KR" sz="1100" b="1" dirty="0">
                          <a:latin typeface="바탕체"/>
                        </a:rPr>
                        <a:t>2007.2.22 </a:t>
                      </a:r>
                      <a:r>
                        <a:rPr lang="ko-KR" altLang="en-US" sz="1100" b="1" dirty="0">
                          <a:latin typeface="바탕체"/>
                        </a:rPr>
                        <a:t>선고 </a:t>
                      </a:r>
                      <a:r>
                        <a:rPr lang="en-US" altLang="ko-KR" sz="1100" b="1" dirty="0">
                          <a:latin typeface="바탕체"/>
                        </a:rPr>
                        <a:t>2005</a:t>
                      </a:r>
                      <a:r>
                        <a:rPr lang="ko-KR" altLang="en-US" sz="1100" b="1" dirty="0">
                          <a:latin typeface="바탕체"/>
                        </a:rPr>
                        <a:t>다</a:t>
                      </a:r>
                      <a:r>
                        <a:rPr lang="en-US" altLang="ko-KR" sz="1100" b="1" dirty="0">
                          <a:latin typeface="바탕체"/>
                        </a:rPr>
                        <a:t>65821</a:t>
                      </a:r>
                      <a:r>
                        <a:rPr lang="ko-KR" altLang="en-US" sz="1100" b="1" dirty="0">
                          <a:latin typeface="바탕체"/>
                        </a:rPr>
                        <a:t>판결</a:t>
                      </a:r>
                      <a:r>
                        <a:rPr lang="en-US" altLang="ko-KR" sz="1100" b="1" dirty="0">
                          <a:latin typeface="바탕체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100" b="1" dirty="0">
                          <a:latin typeface="바탕체"/>
                        </a:rPr>
                        <a:t>따라서</a:t>
                      </a:r>
                      <a:r>
                        <a:rPr lang="en-US" altLang="ko-KR" sz="1100" b="1" dirty="0">
                          <a:latin typeface="바탕체"/>
                        </a:rPr>
                        <a:t>, </a:t>
                      </a:r>
                      <a:r>
                        <a:rPr lang="ko-KR" altLang="en-US" sz="1100" b="1" dirty="0">
                          <a:latin typeface="바탕체"/>
                        </a:rPr>
                        <a:t>낙찰자는 </a:t>
                      </a:r>
                      <a:r>
                        <a:rPr lang="en-US" altLang="ko-KR" sz="1100" b="1" dirty="0">
                          <a:latin typeface="바탕체"/>
                        </a:rPr>
                        <a:t>3</a:t>
                      </a:r>
                      <a:r>
                        <a:rPr lang="ko-KR" altLang="en-US" sz="1100" b="1" dirty="0">
                          <a:latin typeface="바탕체"/>
                        </a:rPr>
                        <a:t>년이 지난 관리비에 대해선 부담하지 않아도 됩니다</a:t>
                      </a:r>
                      <a:r>
                        <a:rPr lang="en-US" altLang="ko-KR" sz="1100" b="1" dirty="0">
                          <a:latin typeface="바탕체"/>
                        </a:rPr>
                        <a:t>.</a:t>
                      </a:r>
                    </a:p>
                    <a:p>
                      <a:pPr latinLnBrk="1"/>
                      <a:endParaRPr lang="en-US" altLang="ko-KR" sz="1100" b="1" dirty="0">
                        <a:latin typeface="바탕체"/>
                      </a:endParaRPr>
                    </a:p>
                    <a:p>
                      <a:pPr latinLnBrk="1"/>
                      <a:r>
                        <a:rPr lang="ko-KR" altLang="en-US" sz="1100" b="1" dirty="0">
                          <a:latin typeface="바탕체"/>
                        </a:rPr>
                        <a:t>또한</a:t>
                      </a:r>
                      <a:r>
                        <a:rPr lang="en-US" altLang="ko-KR" sz="1100" b="1" dirty="0">
                          <a:latin typeface="바탕체"/>
                        </a:rPr>
                        <a:t>, </a:t>
                      </a:r>
                      <a:r>
                        <a:rPr lang="ko-KR" altLang="en-US" sz="1100" b="1" dirty="0">
                          <a:latin typeface="바탕체"/>
                        </a:rPr>
                        <a:t>체납관리비 내역을 살펴보면 연체료도 상당할 수 있습니다</a:t>
                      </a:r>
                      <a:r>
                        <a:rPr lang="en-US" altLang="ko-KR" sz="1100" b="1" dirty="0">
                          <a:latin typeface="바탕체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1" dirty="0">
                          <a:latin typeface="바탕체"/>
                        </a:rPr>
                        <a:t>낙찰자는 체납관리비의 연체료는 부담하지 않아도 됩니다</a:t>
                      </a:r>
                      <a:r>
                        <a:rPr lang="en-US" altLang="ko-KR" sz="1100" b="1" dirty="0">
                          <a:latin typeface="바탕체"/>
                        </a:rPr>
                        <a:t>. (</a:t>
                      </a:r>
                      <a:r>
                        <a:rPr lang="ko-KR" altLang="en-US" sz="1100" b="1" dirty="0">
                          <a:latin typeface="바탕체"/>
                        </a:rPr>
                        <a:t>대법원 </a:t>
                      </a:r>
                      <a:r>
                        <a:rPr lang="en-US" altLang="ko-KR" sz="1100" b="1" dirty="0">
                          <a:latin typeface="바탕체"/>
                        </a:rPr>
                        <a:t>2006.29 </a:t>
                      </a:r>
                      <a:r>
                        <a:rPr lang="ko-KR" altLang="en-US" sz="1100" b="1" dirty="0">
                          <a:latin typeface="바탕체"/>
                        </a:rPr>
                        <a:t>선고 </a:t>
                      </a:r>
                      <a:r>
                        <a:rPr lang="en-US" altLang="ko-KR" sz="1100" b="1" dirty="0">
                          <a:latin typeface="바탕체"/>
                        </a:rPr>
                        <a:t>2004</a:t>
                      </a:r>
                      <a:r>
                        <a:rPr lang="ko-KR" altLang="en-US" sz="1100" b="1" dirty="0">
                          <a:latin typeface="바탕체"/>
                        </a:rPr>
                        <a:t>다</a:t>
                      </a:r>
                      <a:r>
                        <a:rPr lang="en-US" altLang="ko-KR" sz="1100" b="1" dirty="0">
                          <a:latin typeface="바탕체"/>
                        </a:rPr>
                        <a:t>3598</a:t>
                      </a:r>
                      <a:r>
                        <a:rPr lang="ko-KR" altLang="en-US" sz="1100" b="1" dirty="0">
                          <a:latin typeface="바탕체"/>
                        </a:rPr>
                        <a:t>판결</a:t>
                      </a:r>
                      <a:r>
                        <a:rPr lang="en-US" altLang="ko-KR" sz="1100" b="1" dirty="0">
                          <a:latin typeface="바탕체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100" b="1" dirty="0">
                          <a:latin typeface="바탕체"/>
                        </a:rPr>
                        <a:t>‘</a:t>
                      </a:r>
                      <a:r>
                        <a:rPr lang="ko-KR" altLang="en-US" sz="1100" b="1" dirty="0">
                          <a:latin typeface="바탕체"/>
                        </a:rPr>
                        <a:t>관리비 납부를 연체할 경우 부과되는 연체료는 위약벌의 일종이고</a:t>
                      </a:r>
                      <a:r>
                        <a:rPr lang="en-US" altLang="ko-KR" sz="1100" b="1" dirty="0">
                          <a:latin typeface="바탕체"/>
                        </a:rPr>
                        <a:t>, </a:t>
                      </a:r>
                      <a:r>
                        <a:rPr lang="ko-KR" altLang="en-US" sz="1100" b="1" dirty="0">
                          <a:latin typeface="바탕체"/>
                        </a:rPr>
                        <a:t>前구분소유자의 특별승계인의 경락자가 체납된 공용부분 관리비를 승계 </a:t>
                      </a:r>
                      <a:r>
                        <a:rPr lang="ko-KR" altLang="en-US" sz="1100" b="1" dirty="0" err="1">
                          <a:latin typeface="바탕체"/>
                        </a:rPr>
                        <a:t>한다고해서</a:t>
                      </a:r>
                      <a:r>
                        <a:rPr lang="ko-KR" altLang="en-US" sz="1100" b="1" dirty="0">
                          <a:latin typeface="바탕체"/>
                        </a:rPr>
                        <a:t> 前구분소유자가 관리비 납부를 연체함 으로 인해 이미 발생하게 된 법률효과까지 그대로 승계되는 것은 아니므로</a:t>
                      </a:r>
                    </a:p>
                    <a:p>
                      <a:pPr latinLnBrk="1"/>
                      <a:r>
                        <a:rPr lang="ko-KR" altLang="en-US" sz="1100" b="1" dirty="0">
                          <a:latin typeface="바탕체"/>
                        </a:rPr>
                        <a:t>공용부분 관리비에 대한 연체료는 특별승계인에게 승계되는 공용부분 관리비에 포함되지 않는다</a:t>
                      </a:r>
                      <a:r>
                        <a:rPr lang="en-US" altLang="ko-KR" sz="1100" b="1" dirty="0">
                          <a:latin typeface="바탕체"/>
                        </a:rPr>
                        <a:t>.’ </a:t>
                      </a:r>
                      <a:r>
                        <a:rPr lang="ko-KR" altLang="en-US" sz="1100" b="1" dirty="0">
                          <a:latin typeface="바탕체"/>
                        </a:rPr>
                        <a:t>라는 판례가 있습니다</a:t>
                      </a:r>
                      <a:r>
                        <a:rPr lang="en-US" altLang="ko-KR" sz="1100" b="1" dirty="0">
                          <a:latin typeface="바탕체"/>
                        </a:rPr>
                        <a:t>.</a:t>
                      </a:r>
                    </a:p>
                    <a:p>
                      <a:pPr latinLnBrk="1"/>
                      <a:endParaRPr lang="en-US" altLang="ko-KR" sz="1100" b="1" dirty="0">
                        <a:latin typeface="바탕체"/>
                      </a:endParaRPr>
                    </a:p>
                    <a:p>
                      <a:pPr latinLnBrk="1"/>
                      <a:r>
                        <a:rPr lang="ko-KR" altLang="en-US" sz="1100" b="1" dirty="0">
                          <a:latin typeface="바탕체"/>
                        </a:rPr>
                        <a:t>단</a:t>
                      </a:r>
                      <a:r>
                        <a:rPr lang="en-US" altLang="ko-KR" sz="1100" b="1" dirty="0">
                          <a:latin typeface="바탕체"/>
                        </a:rPr>
                        <a:t>, </a:t>
                      </a:r>
                      <a:r>
                        <a:rPr lang="ko-KR" altLang="en-US" sz="1100" b="1" dirty="0">
                          <a:latin typeface="바탕체"/>
                        </a:rPr>
                        <a:t>관리사무소가 사전에 관리비 채권에 대한 소멸시효 중단을 위한 조치를 </a:t>
                      </a:r>
                      <a:r>
                        <a:rPr lang="ko-KR" altLang="en-US" sz="1100" b="1" dirty="0" err="1">
                          <a:latin typeface="바탕체"/>
                        </a:rPr>
                        <a:t>해두었다면</a:t>
                      </a:r>
                      <a:r>
                        <a:rPr lang="ko-KR" altLang="en-US" sz="1100" b="1" dirty="0">
                          <a:latin typeface="바탕체"/>
                        </a:rPr>
                        <a:t> </a:t>
                      </a:r>
                      <a:r>
                        <a:rPr lang="en-US" altLang="ko-KR" sz="1100" b="1" dirty="0">
                          <a:latin typeface="바탕체"/>
                        </a:rPr>
                        <a:t>3</a:t>
                      </a:r>
                      <a:r>
                        <a:rPr lang="ko-KR" altLang="en-US" sz="1100" b="1" dirty="0">
                          <a:latin typeface="바탕체"/>
                        </a:rPr>
                        <a:t>년 </a:t>
                      </a:r>
                      <a:r>
                        <a:rPr lang="ko-KR" altLang="en-US" sz="1100" b="1" dirty="0" err="1">
                          <a:latin typeface="바탕체"/>
                        </a:rPr>
                        <a:t>경과분</a:t>
                      </a:r>
                      <a:r>
                        <a:rPr lang="ko-KR" altLang="en-US" sz="1100" b="1" dirty="0">
                          <a:latin typeface="바탕체"/>
                        </a:rPr>
                        <a:t> 까지 책임져야 하는 상황이 발생할 수 도 있습니다</a:t>
                      </a:r>
                      <a:r>
                        <a:rPr lang="en-US" altLang="ko-KR" sz="1100" b="1" dirty="0">
                          <a:latin typeface="바탕체"/>
                        </a:rPr>
                        <a:t>. (</a:t>
                      </a:r>
                      <a:r>
                        <a:rPr lang="ko-KR" altLang="en-US" sz="1100" b="1" dirty="0">
                          <a:latin typeface="바탕체"/>
                        </a:rPr>
                        <a:t>가압류</a:t>
                      </a:r>
                      <a:r>
                        <a:rPr lang="en-US" altLang="ko-KR" sz="1100" b="1" dirty="0">
                          <a:latin typeface="바탕체"/>
                        </a:rPr>
                        <a:t>, </a:t>
                      </a:r>
                      <a:r>
                        <a:rPr lang="ko-KR" altLang="en-US" sz="1100" b="1" dirty="0">
                          <a:latin typeface="바탕체"/>
                        </a:rPr>
                        <a:t>지급명령 등</a:t>
                      </a:r>
                      <a:r>
                        <a:rPr lang="en-US" altLang="ko-KR" sz="1100" b="1" dirty="0">
                          <a:latin typeface="바탕체"/>
                        </a:rPr>
                        <a:t>)</a:t>
                      </a:r>
                      <a:endParaRPr lang="en-US" altLang="ko-KR" sz="1100" b="1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3675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281624"/>
                  </a:ext>
                </a:extLst>
              </a:tr>
            </a:tbl>
          </a:graphicData>
        </a:graphic>
      </p:graphicFrame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E135185E-5B07-C902-F6DE-656B3FDB69ED}"/>
              </a:ext>
            </a:extLst>
          </p:cNvPr>
          <p:cNvGraphicFramePr>
            <a:graphicFrameLocks noGrp="1"/>
          </p:cNvGraphicFramePr>
          <p:nvPr/>
        </p:nvGraphicFramePr>
        <p:xfrm>
          <a:off x="922149" y="9225898"/>
          <a:ext cx="5013702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3702">
                  <a:extLst>
                    <a:ext uri="{9D8B030D-6E8A-4147-A177-3AD203B41FA5}">
                      <a16:colId xmlns:a16="http://schemas.microsoft.com/office/drawing/2014/main" val="2837882607"/>
                    </a:ext>
                  </a:extLst>
                </a:gridCol>
              </a:tblGrid>
              <a:tr h="28713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※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본 보증서는 의뢰인과 의뢰인의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직계존비속에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한해 유효합니다</a:t>
                      </a: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※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권리분석 의뢰 후 변경되는 권리에 대한 사항은 고객이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요청시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마이옥션이</a:t>
                      </a:r>
                      <a:r>
                        <a:rPr lang="ko-KR" altLang="en-US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 확인하여 보증서를 재발급해드리고 기존 보증서는 효력이 없음을 </a:t>
                      </a:r>
                      <a:r>
                        <a:rPr lang="ko-KR" altLang="en-US" sz="1000" b="1" dirty="0" err="1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고지드립니다</a:t>
                      </a:r>
                      <a:r>
                        <a:rPr lang="en-US" altLang="ko-KR" sz="1000" b="1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.</a:t>
                      </a:r>
                    </a:p>
                  </a:txBody>
                  <a:tcPr>
                    <a:solidFill>
                      <a:srgbClr val="FFFFFF">
                        <a:alpha val="7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281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49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3765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285</TotalTime>
  <Words>314</Words>
  <Application>Microsoft Office PowerPoint</Application>
  <PresentationFormat>A4 용지(210x297mm)</PresentationFormat>
  <Paragraphs>32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바탕체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 Sung Song</dc:creator>
  <cp:lastModifiedBy>NO.1</cp:lastModifiedBy>
  <cp:revision>31</cp:revision>
  <cp:lastPrinted>2022-06-27T07:02:32Z</cp:lastPrinted>
  <dcterms:created xsi:type="dcterms:W3CDTF">2022-06-27T05:44:38Z</dcterms:created>
  <dcterms:modified xsi:type="dcterms:W3CDTF">2026-06-16T05:26:33Z</dcterms:modified>
</cp:coreProperties>
</file>