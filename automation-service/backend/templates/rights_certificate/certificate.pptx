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57" r:id="rId5"/>
  </p:sldIdLst>
  <p:sldSz cx="6858000" cy="9906000" type="A4"/>
  <p:notesSz cx="6797675" cy="99298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1" autoAdjust="0"/>
    <p:restoredTop sz="94660"/>
  </p:normalViewPr>
  <p:slideViewPr>
    <p:cSldViewPr snapToGrid="0">
      <p:cViewPr varScale="1">
        <p:scale>
          <a:sx n="77" d="100"/>
          <a:sy n="77" d="100"/>
        </p:scale>
        <p:origin x="6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86AD3-25A7-441C-99EE-67C757D1FD1E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66DF3-58E3-405A-B87A-2A1093A5C0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0131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86AD3-25A7-441C-99EE-67C757D1FD1E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66DF3-58E3-405A-B87A-2A1093A5C0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9899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86AD3-25A7-441C-99EE-67C757D1FD1E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66DF3-58E3-405A-B87A-2A1093A5C0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8975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86AD3-25A7-441C-99EE-67C757D1FD1E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66DF3-58E3-405A-B87A-2A1093A5C0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6051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86AD3-25A7-441C-99EE-67C757D1FD1E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66DF3-58E3-405A-B87A-2A1093A5C0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2390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86AD3-25A7-441C-99EE-67C757D1FD1E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66DF3-58E3-405A-B87A-2A1093A5C0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1240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86AD3-25A7-441C-99EE-67C757D1FD1E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66DF3-58E3-405A-B87A-2A1093A5C0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880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86AD3-25A7-441C-99EE-67C757D1FD1E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66DF3-58E3-405A-B87A-2A1093A5C0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9101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86AD3-25A7-441C-99EE-67C757D1FD1E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66DF3-58E3-405A-B87A-2A1093A5C0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0907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86AD3-25A7-441C-99EE-67C757D1FD1E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66DF3-58E3-405A-B87A-2A1093A5C0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0441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86AD3-25A7-441C-99EE-67C757D1FD1E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66DF3-58E3-405A-B87A-2A1093A5C0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8305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686AD3-25A7-441C-99EE-67C757D1FD1E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566DF3-58E3-405A-B87A-2A1093A5C0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8613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F87168-AFA6-5B7B-E66F-E126DA5C9C0B}"/>
              </a:ext>
            </a:extLst>
          </p:cNvPr>
          <p:cNvSpPr txBox="1"/>
          <p:nvPr/>
        </p:nvSpPr>
        <p:spPr>
          <a:xfrm>
            <a:off x="3721608" y="2649424"/>
            <a:ext cx="19543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ko-KR" altLang="en-US" sz="1200" dirty="0">
                <a:solidFill>
                  <a:prstClr val="black"/>
                </a:solidFill>
                <a:latin typeface="바탕체"/>
              </a:rPr>
              <a:t>작성일</a:t>
            </a:r>
            <a:r>
              <a:rPr lang="en-US" altLang="ko-KR" sz="1200" dirty="0">
                <a:solidFill>
                  <a:prstClr val="black"/>
                </a:solidFill>
                <a:latin typeface="바탕체"/>
              </a:rPr>
              <a:t>: {{</a:t>
            </a:r>
            <a:r>
              <a:rPr lang="en-US" altLang="ko-KR" sz="1200" dirty="0" err="1">
                <a:solidFill>
                  <a:prstClr val="black"/>
                </a:solidFill>
                <a:latin typeface="바탕체"/>
              </a:rPr>
              <a:t>createdDate</a:t>
            </a:r>
            <a:r>
              <a:rPr lang="en-US" altLang="ko-KR" sz="1200" dirty="0">
                <a:solidFill>
                  <a:prstClr val="black"/>
                </a:solidFill>
                <a:latin typeface="바탕체"/>
              </a:rPr>
              <a:t>}}</a:t>
            </a: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2A4FB22C-33B9-6F6F-515E-98A0B87F89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0254195"/>
              </p:ext>
            </p:extLst>
          </p:nvPr>
        </p:nvGraphicFramePr>
        <p:xfrm>
          <a:off x="922149" y="3345796"/>
          <a:ext cx="5013702" cy="244754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13702">
                  <a:extLst>
                    <a:ext uri="{9D8B030D-6E8A-4147-A177-3AD203B41FA5}">
                      <a16:colId xmlns:a16="http://schemas.microsoft.com/office/drawing/2014/main" val="2837882607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latinLnBrk="1"/>
                      <a:r>
                        <a:rPr sz="1200" b="1" dirty="0">
                          <a:latin typeface="바탕체"/>
                        </a:rPr>
                        <a:t>1. </a:t>
                      </a:r>
                      <a:r>
                        <a:rPr lang="ko-KR" altLang="en-US" sz="1200" b="1" dirty="0">
                          <a:latin typeface="바탕체"/>
                        </a:rPr>
                        <a:t>말소기준 및 등기부상 소멸사항</a:t>
                      </a:r>
                      <a:endParaRPr sz="1200" b="1" dirty="0">
                        <a:latin typeface="바탕체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358128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latinLnBrk="1"/>
                      <a:r>
                        <a:rPr sz="1000" dirty="0">
                          <a:solidFill>
                            <a:srgbClr val="0070C0"/>
                          </a:solidFill>
                          <a:latin typeface="바탕체"/>
                        </a:rPr>
                        <a:t>{{</a:t>
                      </a:r>
                      <a:r>
                        <a:rPr sz="1000" dirty="0" err="1">
                          <a:solidFill>
                            <a:srgbClr val="0070C0"/>
                          </a:solidFill>
                          <a:latin typeface="바탕체"/>
                        </a:rPr>
                        <a:t>baseRightDescription</a:t>
                      </a:r>
                      <a:r>
                        <a:rPr sz="1000" dirty="0">
                          <a:solidFill>
                            <a:srgbClr val="0070C0"/>
                          </a:solidFill>
                          <a:latin typeface="바탕체"/>
                        </a:rPr>
                        <a:t>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29738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latinLnBrk="1"/>
                      <a:r>
                        <a:rPr lang="en-US" sz="1200" b="1" dirty="0">
                          <a:latin typeface="바탕체"/>
                        </a:rPr>
                        <a:t>2. </a:t>
                      </a:r>
                      <a:r>
                        <a:rPr lang="ko-KR" altLang="en-US" sz="1200" b="1" dirty="0">
                          <a:latin typeface="바탕체"/>
                        </a:rPr>
                        <a:t>임차권리 인수사항</a:t>
                      </a:r>
                      <a:endParaRPr lang="ko-KR" altLang="en-US" sz="1200" b="1" dirty="0"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7622363"/>
                  </a:ext>
                </a:extLst>
              </a:tr>
              <a:tr h="435863">
                <a:tc>
                  <a:txBody>
                    <a:bodyPr/>
                    <a:lstStyle/>
                    <a:p>
                      <a:pPr latinLnBrk="1"/>
                      <a:r>
                        <a:rPr sz="1000">
                          <a:latin typeface="바탕체"/>
                        </a:rPr>
                        <a:t>{{tenantAnalysisText}}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05369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latinLnBrk="1"/>
                      <a:r>
                        <a:rPr sz="1200" b="1" dirty="0">
                          <a:latin typeface="바탕체"/>
                        </a:rPr>
                        <a:t>3. </a:t>
                      </a:r>
                      <a:r>
                        <a:rPr lang="ko-KR" altLang="en-US" sz="1200" b="1" dirty="0" err="1">
                          <a:latin typeface="바탕체"/>
                        </a:rPr>
                        <a:t>경매취하</a:t>
                      </a:r>
                      <a:r>
                        <a:rPr lang="en-US" altLang="ko-KR" sz="1200" b="1" dirty="0">
                          <a:latin typeface="바탕체"/>
                        </a:rPr>
                        <a:t> / </a:t>
                      </a:r>
                      <a:r>
                        <a:rPr lang="ko-KR" altLang="en-US" sz="1200" b="1" dirty="0" err="1">
                          <a:latin typeface="바탕체"/>
                        </a:rPr>
                        <a:t>무잉여</a:t>
                      </a:r>
                      <a:r>
                        <a:rPr lang="ko-KR" altLang="en-US" sz="1200" b="1" dirty="0">
                          <a:latin typeface="바탕체"/>
                        </a:rPr>
                        <a:t> 가능성</a:t>
                      </a:r>
                      <a:endParaRPr lang="en-US" altLang="ko-KR" sz="1200" b="1" dirty="0"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4928402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latinLnBrk="1"/>
                      <a:r>
                        <a:rPr sz="1000" dirty="0">
                          <a:latin typeface="바탕체"/>
                        </a:rPr>
                        <a:t>{{</a:t>
                      </a:r>
                      <a:r>
                        <a:rPr sz="1000" dirty="0" err="1">
                          <a:latin typeface="바탕체"/>
                        </a:rPr>
                        <a:t>surplusDescription</a:t>
                      </a:r>
                      <a:r>
                        <a:rPr sz="1000" dirty="0">
                          <a:latin typeface="바탕체"/>
                        </a:rPr>
                        <a:t>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7465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latinLnBrk="1"/>
                      <a:endParaRPr lang="en-US" altLang="ko-KR" sz="1200" b="1" dirty="0"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7736753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marL="228600" indent="-228600" latinLnBrk="1">
                        <a:buFont typeface="+mj-lt"/>
                        <a:buAutoNum type="arabicParenR"/>
                      </a:pPr>
                      <a:endParaRPr lang="en-US" altLang="ko-KR" sz="1000" b="0" dirty="0"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6281624"/>
                  </a:ext>
                </a:extLst>
              </a:tr>
            </a:tbl>
          </a:graphicData>
        </a:graphic>
      </p:graphicFrame>
      <p:graphicFrame>
        <p:nvGraphicFramePr>
          <p:cNvPr id="3" name="표 5">
            <a:extLst>
              <a:ext uri="{FF2B5EF4-FFF2-40B4-BE49-F238E27FC236}">
                <a16:creationId xmlns:a16="http://schemas.microsoft.com/office/drawing/2014/main" id="{5A39CEB8-9758-EFAE-F30D-5A56C96C01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72734"/>
              </p:ext>
            </p:extLst>
          </p:nvPr>
        </p:nvGraphicFramePr>
        <p:xfrm>
          <a:off x="922149" y="9225898"/>
          <a:ext cx="5013702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13702">
                  <a:extLst>
                    <a:ext uri="{9D8B030D-6E8A-4147-A177-3AD203B41FA5}">
                      <a16:colId xmlns:a16="http://schemas.microsoft.com/office/drawing/2014/main" val="2837882607"/>
                    </a:ext>
                  </a:extLst>
                </a:gridCol>
              </a:tblGrid>
              <a:tr h="28713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※</a:t>
                      </a:r>
                      <a:r>
                        <a:rPr lang="ko-KR" altLang="en-US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본 보증서는 의뢰인과 의뢰인의 </a:t>
                      </a:r>
                      <a:r>
                        <a:rPr lang="ko-KR" altLang="en-US" sz="1000" b="1" dirty="0" err="1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직계존비속에</a:t>
                      </a:r>
                      <a:r>
                        <a:rPr lang="ko-KR" altLang="en-US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 한해 유효합니다</a:t>
                      </a:r>
                      <a:r>
                        <a:rPr lang="en-US" altLang="ko-KR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.</a:t>
                      </a:r>
                    </a:p>
                    <a:p>
                      <a:pPr algn="ctr" latinLnBrk="1"/>
                      <a:r>
                        <a:rPr lang="en-US" altLang="ko-KR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※</a:t>
                      </a:r>
                      <a:r>
                        <a:rPr lang="ko-KR" altLang="en-US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권리분석 의뢰 후 변경되는 권리에 대한 사항은 고객이 </a:t>
                      </a:r>
                      <a:r>
                        <a:rPr lang="ko-KR" altLang="en-US" sz="1000" b="1" dirty="0" err="1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요청시</a:t>
                      </a:r>
                      <a:r>
                        <a:rPr lang="ko-KR" altLang="en-US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 </a:t>
                      </a:r>
                      <a:r>
                        <a:rPr lang="ko-KR" altLang="en-US" sz="1000" b="1" dirty="0" err="1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마이옥션이</a:t>
                      </a:r>
                      <a:r>
                        <a:rPr lang="ko-KR" altLang="en-US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 확인하여 보증서를 재발급해드리고 기존 보증서는 효력이 없음을 </a:t>
                      </a:r>
                      <a:r>
                        <a:rPr lang="ko-KR" altLang="en-US" sz="1000" b="1" dirty="0" err="1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고지드립니다</a:t>
                      </a:r>
                      <a:r>
                        <a:rPr lang="en-US" altLang="ko-KR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.</a:t>
                      </a:r>
                    </a:p>
                  </a:txBody>
                  <a:tcPr>
                    <a:solidFill>
                      <a:srgbClr val="FFFFFF">
                        <a:alpha val="7803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28162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24F5517-32BF-C686-B5D1-0D69840ED75A}"/>
              </a:ext>
            </a:extLst>
          </p:cNvPr>
          <p:cNvSpPr txBox="1"/>
          <p:nvPr/>
        </p:nvSpPr>
        <p:spPr>
          <a:xfrm>
            <a:off x="1000744" y="2649424"/>
            <a:ext cx="21356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사건번호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{{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caseNumber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{{court}}</a:t>
            </a:r>
          </a:p>
        </p:txBody>
      </p:sp>
    </p:spTree>
    <p:extLst>
      <p:ext uri="{BB962C8B-B14F-4D97-AF65-F5344CB8AC3E}">
        <p14:creationId xmlns:p14="http://schemas.microsoft.com/office/powerpoint/2010/main" val="3302848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E310C9-59D0-2ECF-60A0-828424A0A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5">
            <a:extLst>
              <a:ext uri="{FF2B5EF4-FFF2-40B4-BE49-F238E27FC236}">
                <a16:creationId xmlns:a16="http://schemas.microsoft.com/office/drawing/2014/main" id="{344E83B9-B3A0-CDD0-B078-DA02582A80EC}"/>
              </a:ext>
            </a:extLst>
          </p:cNvPr>
          <p:cNvGraphicFramePr>
            <a:graphicFrameLocks noGrp="1"/>
          </p:cNvGraphicFramePr>
          <p:nvPr/>
        </p:nvGraphicFramePr>
        <p:xfrm>
          <a:off x="922149" y="9225898"/>
          <a:ext cx="5013702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13702">
                  <a:extLst>
                    <a:ext uri="{9D8B030D-6E8A-4147-A177-3AD203B41FA5}">
                      <a16:colId xmlns:a16="http://schemas.microsoft.com/office/drawing/2014/main" val="2837882607"/>
                    </a:ext>
                  </a:extLst>
                </a:gridCol>
              </a:tblGrid>
              <a:tr h="28713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※</a:t>
                      </a:r>
                      <a:r>
                        <a:rPr lang="ko-KR" altLang="en-US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본 보증서는 의뢰인과 의뢰인의 </a:t>
                      </a:r>
                      <a:r>
                        <a:rPr lang="ko-KR" altLang="en-US" sz="1000" b="1" dirty="0" err="1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직계존비속에</a:t>
                      </a:r>
                      <a:r>
                        <a:rPr lang="ko-KR" altLang="en-US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 한해 유효합니다</a:t>
                      </a:r>
                      <a:r>
                        <a:rPr lang="en-US" altLang="ko-KR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.</a:t>
                      </a:r>
                    </a:p>
                    <a:p>
                      <a:pPr algn="ctr" latinLnBrk="1"/>
                      <a:r>
                        <a:rPr lang="en-US" altLang="ko-KR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※</a:t>
                      </a:r>
                      <a:r>
                        <a:rPr lang="ko-KR" altLang="en-US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권리분석 의뢰 후 변경되는 권리에 대한 사항은 고객이 </a:t>
                      </a:r>
                      <a:r>
                        <a:rPr lang="ko-KR" altLang="en-US" sz="1000" b="1" dirty="0" err="1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요청시</a:t>
                      </a:r>
                      <a:r>
                        <a:rPr lang="ko-KR" altLang="en-US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 </a:t>
                      </a:r>
                      <a:r>
                        <a:rPr lang="ko-KR" altLang="en-US" sz="1000" b="1" dirty="0" err="1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마이옥션이</a:t>
                      </a:r>
                      <a:r>
                        <a:rPr lang="ko-KR" altLang="en-US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 확인하여 보증서를 재발급해드리고 기존 보증서는 효력이 없음을 </a:t>
                      </a:r>
                      <a:r>
                        <a:rPr lang="ko-KR" altLang="en-US" sz="1000" b="1" dirty="0" err="1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고지드립니다</a:t>
                      </a:r>
                      <a:r>
                        <a:rPr lang="en-US" altLang="ko-KR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.</a:t>
                      </a:r>
                    </a:p>
                  </a:txBody>
                  <a:tcPr>
                    <a:solidFill>
                      <a:srgbClr val="FFFFFF">
                        <a:alpha val="7803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281624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4BBAC82-A0C9-3F17-5D43-2D8F9B1B56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1099558"/>
              </p:ext>
            </p:extLst>
          </p:nvPr>
        </p:nvGraphicFramePr>
        <p:xfrm>
          <a:off x="922149" y="2636838"/>
          <a:ext cx="5013702" cy="5989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13702">
                  <a:extLst>
                    <a:ext uri="{9D8B030D-6E8A-4147-A177-3AD203B41FA5}">
                      <a16:colId xmlns:a16="http://schemas.microsoft.com/office/drawing/2014/main" val="2797162440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latinLnBrk="1"/>
                      <a:r>
                        <a:rPr sz="1200" b="1" dirty="0">
                          <a:latin typeface="바탕체"/>
                        </a:rPr>
                        <a:t>4. </a:t>
                      </a:r>
                      <a:r>
                        <a:rPr lang="ko-KR" altLang="en-US" sz="1200" b="1" dirty="0">
                          <a:latin typeface="바탕체"/>
                        </a:rPr>
                        <a:t>특이사항</a:t>
                      </a:r>
                      <a:endParaRPr lang="en-US" altLang="ko-KR" sz="1200" b="1" dirty="0"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5153422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r>
                        <a:rPr dirty="0"/>
                        <a:t>{{</a:t>
                      </a:r>
                      <a:r>
                        <a:rPr dirty="0" err="1"/>
                        <a:t>specialSummaryText</a:t>
                      </a:r>
                      <a:r>
                        <a:rPr dirty="0"/>
                        <a:t>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86510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0287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7DED54-A0C3-93FA-7CFE-CD0CFACA2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5">
            <a:extLst>
              <a:ext uri="{FF2B5EF4-FFF2-40B4-BE49-F238E27FC236}">
                <a16:creationId xmlns:a16="http://schemas.microsoft.com/office/drawing/2014/main" id="{FE109048-9D42-4C87-C145-D29925D5D157}"/>
              </a:ext>
            </a:extLst>
          </p:cNvPr>
          <p:cNvGraphicFramePr>
            <a:graphicFrameLocks noGrp="1"/>
          </p:cNvGraphicFramePr>
          <p:nvPr/>
        </p:nvGraphicFramePr>
        <p:xfrm>
          <a:off x="922149" y="9225898"/>
          <a:ext cx="5013702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13702">
                  <a:extLst>
                    <a:ext uri="{9D8B030D-6E8A-4147-A177-3AD203B41FA5}">
                      <a16:colId xmlns:a16="http://schemas.microsoft.com/office/drawing/2014/main" val="2837882607"/>
                    </a:ext>
                  </a:extLst>
                </a:gridCol>
              </a:tblGrid>
              <a:tr h="28713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※</a:t>
                      </a:r>
                      <a:r>
                        <a:rPr lang="ko-KR" altLang="en-US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본 보증서는 의뢰인과 의뢰인의 </a:t>
                      </a:r>
                      <a:r>
                        <a:rPr lang="ko-KR" altLang="en-US" sz="1000" b="1" dirty="0" err="1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직계존비속에</a:t>
                      </a:r>
                      <a:r>
                        <a:rPr lang="ko-KR" altLang="en-US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 한해 유효합니다</a:t>
                      </a:r>
                      <a:r>
                        <a:rPr lang="en-US" altLang="ko-KR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.</a:t>
                      </a:r>
                    </a:p>
                    <a:p>
                      <a:pPr algn="ctr" latinLnBrk="1"/>
                      <a:r>
                        <a:rPr lang="en-US" altLang="ko-KR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※</a:t>
                      </a:r>
                      <a:r>
                        <a:rPr lang="ko-KR" altLang="en-US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권리분석 의뢰 후 변경되는 권리에 대한 사항은 고객이 </a:t>
                      </a:r>
                      <a:r>
                        <a:rPr lang="ko-KR" altLang="en-US" sz="1000" b="1" dirty="0" err="1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요청시</a:t>
                      </a:r>
                      <a:r>
                        <a:rPr lang="ko-KR" altLang="en-US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 </a:t>
                      </a:r>
                      <a:r>
                        <a:rPr lang="ko-KR" altLang="en-US" sz="1000" b="1" dirty="0" err="1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마이옥션이</a:t>
                      </a:r>
                      <a:r>
                        <a:rPr lang="ko-KR" altLang="en-US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 확인하여 보증서를 재발급해드리고 기존 보증서는 효력이 없음을 </a:t>
                      </a:r>
                      <a:r>
                        <a:rPr lang="ko-KR" altLang="en-US" sz="1000" b="1" dirty="0" err="1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고지드립니다</a:t>
                      </a:r>
                      <a:r>
                        <a:rPr lang="en-US" altLang="ko-KR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.</a:t>
                      </a:r>
                    </a:p>
                  </a:txBody>
                  <a:tcPr>
                    <a:solidFill>
                      <a:srgbClr val="FFFFFF">
                        <a:alpha val="7803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281624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83BEFC8-D720-71B9-7C73-92AAA9CF93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7247243"/>
              </p:ext>
            </p:extLst>
          </p:nvPr>
        </p:nvGraphicFramePr>
        <p:xfrm>
          <a:off x="922149" y="2636838"/>
          <a:ext cx="5013702" cy="45506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13702">
                  <a:extLst>
                    <a:ext uri="{9D8B030D-6E8A-4147-A177-3AD203B41FA5}">
                      <a16:colId xmlns:a16="http://schemas.microsoft.com/office/drawing/2014/main" val="2797162440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1" dirty="0">
                          <a:latin typeface="바탕체"/>
                        </a:rPr>
                        <a:t># </a:t>
                      </a:r>
                      <a:r>
                        <a:rPr lang="ko-KR" altLang="en-US" sz="1100" b="1" dirty="0">
                          <a:latin typeface="바탕체"/>
                        </a:rPr>
                        <a:t>체납관리비 </a:t>
                      </a:r>
                      <a:r>
                        <a:rPr lang="en-US" altLang="ko-KR" sz="1100" b="1" dirty="0">
                          <a:latin typeface="바탕체"/>
                        </a:rPr>
                        <a:t>?</a:t>
                      </a:r>
                    </a:p>
                    <a:p>
                      <a:pPr latinLnBrk="1"/>
                      <a:endParaRPr lang="en-US" altLang="ko-KR" sz="1100" b="1" dirty="0">
                        <a:latin typeface="바탕체"/>
                      </a:endParaRPr>
                    </a:p>
                    <a:p>
                      <a:pPr latinLnBrk="1"/>
                      <a:r>
                        <a:rPr lang="en-US" altLang="ko-KR" sz="1100" b="1" dirty="0">
                          <a:latin typeface="바탕체"/>
                        </a:rPr>
                        <a:t>*</a:t>
                      </a:r>
                      <a:r>
                        <a:rPr lang="ko-KR" altLang="en-US" sz="1100" b="1" dirty="0">
                          <a:latin typeface="바탕체"/>
                        </a:rPr>
                        <a:t>관리비 채권의 소멸시효는 </a:t>
                      </a:r>
                      <a:r>
                        <a:rPr lang="en-US" altLang="ko-KR" sz="1100" b="1" dirty="0">
                          <a:latin typeface="바탕체"/>
                        </a:rPr>
                        <a:t>3</a:t>
                      </a:r>
                      <a:r>
                        <a:rPr lang="ko-KR" altLang="en-US" sz="1100" b="1" dirty="0">
                          <a:latin typeface="바탕체"/>
                        </a:rPr>
                        <a:t>년으로 前소유자가 체납한 공용부분 관리비가 존재하더라도 그 중에서 </a:t>
                      </a:r>
                      <a:r>
                        <a:rPr lang="en-US" altLang="ko-KR" sz="1100" b="1" dirty="0">
                          <a:latin typeface="바탕체"/>
                        </a:rPr>
                        <a:t>3</a:t>
                      </a:r>
                      <a:r>
                        <a:rPr lang="ko-KR" altLang="en-US" sz="1100" b="1" dirty="0">
                          <a:latin typeface="바탕체"/>
                        </a:rPr>
                        <a:t>년이 경과된 관리비에 대해선</a:t>
                      </a:r>
                    </a:p>
                    <a:p>
                      <a:pPr latinLnBrk="1"/>
                      <a:r>
                        <a:rPr lang="ko-KR" altLang="en-US" sz="1100" b="1" dirty="0">
                          <a:latin typeface="바탕체"/>
                        </a:rPr>
                        <a:t>낙찰자는 前소유자의 소멸시효 항변권을 원용하여 그 채권에 대해선 부담하지 않을 수 있습니다</a:t>
                      </a:r>
                      <a:r>
                        <a:rPr lang="en-US" altLang="ko-KR" sz="1100" b="1" dirty="0">
                          <a:latin typeface="바탕체"/>
                        </a:rPr>
                        <a:t>.</a:t>
                      </a:r>
                    </a:p>
                    <a:p>
                      <a:pPr latinLnBrk="1"/>
                      <a:endParaRPr lang="en-US" altLang="ko-KR" sz="1100" b="1" dirty="0">
                        <a:latin typeface="바탕체"/>
                      </a:endParaRPr>
                    </a:p>
                    <a:p>
                      <a:pPr latinLnBrk="1"/>
                      <a:r>
                        <a:rPr lang="ko-KR" altLang="en-US" sz="1100" b="1" dirty="0">
                          <a:latin typeface="바탕체"/>
                        </a:rPr>
                        <a:t>민법</a:t>
                      </a:r>
                      <a:r>
                        <a:rPr lang="en-US" altLang="ko-KR" sz="1100" b="1" dirty="0">
                          <a:latin typeface="바탕체"/>
                        </a:rPr>
                        <a:t>163</a:t>
                      </a:r>
                      <a:r>
                        <a:rPr lang="ko-KR" altLang="en-US" sz="1100" b="1" dirty="0">
                          <a:latin typeface="바탕체"/>
                        </a:rPr>
                        <a:t>조에서 </a:t>
                      </a:r>
                      <a:r>
                        <a:rPr lang="en-US" altLang="ko-KR" sz="1100" b="1" dirty="0">
                          <a:latin typeface="바탕체"/>
                        </a:rPr>
                        <a:t>3</a:t>
                      </a:r>
                      <a:r>
                        <a:rPr lang="ko-KR" altLang="en-US" sz="1100" b="1" dirty="0">
                          <a:latin typeface="바탕체"/>
                        </a:rPr>
                        <a:t>년의 </a:t>
                      </a:r>
                      <a:r>
                        <a:rPr lang="ko-KR" altLang="en-US" sz="1100" b="1" dirty="0" err="1">
                          <a:latin typeface="바탕체"/>
                        </a:rPr>
                        <a:t>단기소멸시효에</a:t>
                      </a:r>
                      <a:r>
                        <a:rPr lang="ko-KR" altLang="en-US" sz="1100" b="1" dirty="0">
                          <a:latin typeface="바탕체"/>
                        </a:rPr>
                        <a:t> 걸리는 채권은 </a:t>
                      </a:r>
                      <a:r>
                        <a:rPr lang="en-US" altLang="ko-KR" sz="1100" b="1" dirty="0">
                          <a:latin typeface="바탕체"/>
                        </a:rPr>
                        <a:t>1</a:t>
                      </a:r>
                      <a:r>
                        <a:rPr lang="ko-KR" altLang="en-US" sz="1100" b="1" dirty="0">
                          <a:latin typeface="바탕체"/>
                        </a:rPr>
                        <a:t>년 이내의 기간으로 정한 채권으로 </a:t>
                      </a:r>
                      <a:r>
                        <a:rPr lang="en-US" altLang="ko-KR" sz="1100" b="1" dirty="0">
                          <a:latin typeface="바탕체"/>
                        </a:rPr>
                        <a:t>1</a:t>
                      </a:r>
                      <a:r>
                        <a:rPr lang="ko-KR" altLang="en-US" sz="1100" b="1" dirty="0">
                          <a:latin typeface="바탕체"/>
                        </a:rPr>
                        <a:t>개월 단위로 지급 </a:t>
                      </a:r>
                      <a:r>
                        <a:rPr lang="ko-KR" altLang="en-US" sz="1100" b="1" dirty="0" err="1">
                          <a:latin typeface="바탕체"/>
                        </a:rPr>
                        <a:t>해야하는</a:t>
                      </a:r>
                      <a:r>
                        <a:rPr lang="ko-KR" altLang="en-US" sz="1100" b="1" dirty="0">
                          <a:latin typeface="바탕체"/>
                        </a:rPr>
                        <a:t> 집합건물의</a:t>
                      </a:r>
                    </a:p>
                    <a:p>
                      <a:pPr latinLnBrk="1"/>
                      <a:r>
                        <a:rPr lang="ko-KR" altLang="en-US" sz="1100" b="1" dirty="0">
                          <a:latin typeface="바탕체"/>
                        </a:rPr>
                        <a:t>관리비는 이에 해당이 됩니다</a:t>
                      </a:r>
                      <a:r>
                        <a:rPr lang="en-US" altLang="ko-KR" sz="1100" b="1" dirty="0">
                          <a:latin typeface="바탕체"/>
                        </a:rPr>
                        <a:t>. (</a:t>
                      </a:r>
                      <a:r>
                        <a:rPr lang="ko-KR" altLang="en-US" sz="1100" b="1" dirty="0">
                          <a:latin typeface="바탕체"/>
                        </a:rPr>
                        <a:t>대법원 </a:t>
                      </a:r>
                      <a:r>
                        <a:rPr lang="en-US" altLang="ko-KR" sz="1100" b="1" dirty="0">
                          <a:latin typeface="바탕체"/>
                        </a:rPr>
                        <a:t>2007.2.22 </a:t>
                      </a:r>
                      <a:r>
                        <a:rPr lang="ko-KR" altLang="en-US" sz="1100" b="1" dirty="0">
                          <a:latin typeface="바탕체"/>
                        </a:rPr>
                        <a:t>선고 </a:t>
                      </a:r>
                      <a:r>
                        <a:rPr lang="en-US" altLang="ko-KR" sz="1100" b="1" dirty="0">
                          <a:latin typeface="바탕체"/>
                        </a:rPr>
                        <a:t>2005</a:t>
                      </a:r>
                      <a:r>
                        <a:rPr lang="ko-KR" altLang="en-US" sz="1100" b="1" dirty="0">
                          <a:latin typeface="바탕체"/>
                        </a:rPr>
                        <a:t>다</a:t>
                      </a:r>
                      <a:r>
                        <a:rPr lang="en-US" altLang="ko-KR" sz="1100" b="1" dirty="0">
                          <a:latin typeface="바탕체"/>
                        </a:rPr>
                        <a:t>65821</a:t>
                      </a:r>
                      <a:r>
                        <a:rPr lang="ko-KR" altLang="en-US" sz="1100" b="1" dirty="0">
                          <a:latin typeface="바탕체"/>
                        </a:rPr>
                        <a:t>판결</a:t>
                      </a:r>
                      <a:r>
                        <a:rPr lang="en-US" altLang="ko-KR" sz="1100" b="1" dirty="0">
                          <a:latin typeface="바탕체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1100" b="1" dirty="0">
                          <a:latin typeface="바탕체"/>
                        </a:rPr>
                        <a:t>따라서</a:t>
                      </a:r>
                      <a:r>
                        <a:rPr lang="en-US" altLang="ko-KR" sz="1100" b="1" dirty="0">
                          <a:latin typeface="바탕체"/>
                        </a:rPr>
                        <a:t>, </a:t>
                      </a:r>
                      <a:r>
                        <a:rPr lang="ko-KR" altLang="en-US" sz="1100" b="1" dirty="0">
                          <a:latin typeface="바탕체"/>
                        </a:rPr>
                        <a:t>낙찰자는 </a:t>
                      </a:r>
                      <a:r>
                        <a:rPr lang="en-US" altLang="ko-KR" sz="1100" b="1" dirty="0">
                          <a:latin typeface="바탕체"/>
                        </a:rPr>
                        <a:t>3</a:t>
                      </a:r>
                      <a:r>
                        <a:rPr lang="ko-KR" altLang="en-US" sz="1100" b="1" dirty="0">
                          <a:latin typeface="바탕체"/>
                        </a:rPr>
                        <a:t>년이 지난 관리비에 대해선 부담하지 않아도 됩니다</a:t>
                      </a:r>
                      <a:r>
                        <a:rPr lang="en-US" altLang="ko-KR" sz="1100" b="1" dirty="0">
                          <a:latin typeface="바탕체"/>
                        </a:rPr>
                        <a:t>.</a:t>
                      </a:r>
                    </a:p>
                    <a:p>
                      <a:pPr latinLnBrk="1"/>
                      <a:endParaRPr lang="en-US" altLang="ko-KR" sz="1100" b="1" dirty="0">
                        <a:latin typeface="바탕체"/>
                      </a:endParaRPr>
                    </a:p>
                    <a:p>
                      <a:pPr latinLnBrk="1"/>
                      <a:r>
                        <a:rPr lang="ko-KR" altLang="en-US" sz="1100" b="1" dirty="0">
                          <a:latin typeface="바탕체"/>
                        </a:rPr>
                        <a:t>또한</a:t>
                      </a:r>
                      <a:r>
                        <a:rPr lang="en-US" altLang="ko-KR" sz="1100" b="1" dirty="0">
                          <a:latin typeface="바탕체"/>
                        </a:rPr>
                        <a:t>, </a:t>
                      </a:r>
                      <a:r>
                        <a:rPr lang="ko-KR" altLang="en-US" sz="1100" b="1" dirty="0">
                          <a:latin typeface="바탕체"/>
                        </a:rPr>
                        <a:t>체납관리비 내역을 살펴보면 연체료도 상당할 수 있습니다</a:t>
                      </a:r>
                      <a:r>
                        <a:rPr lang="en-US" altLang="ko-KR" sz="1100" b="1" dirty="0">
                          <a:latin typeface="바탕체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100" b="1" dirty="0">
                          <a:latin typeface="바탕체"/>
                        </a:rPr>
                        <a:t>낙찰자는 체납관리비의 연체료는 부담하지 않아도 됩니다</a:t>
                      </a:r>
                      <a:r>
                        <a:rPr lang="en-US" altLang="ko-KR" sz="1100" b="1" dirty="0">
                          <a:latin typeface="바탕체"/>
                        </a:rPr>
                        <a:t>. (</a:t>
                      </a:r>
                      <a:r>
                        <a:rPr lang="ko-KR" altLang="en-US" sz="1100" b="1" dirty="0">
                          <a:latin typeface="바탕체"/>
                        </a:rPr>
                        <a:t>대법원 </a:t>
                      </a:r>
                      <a:r>
                        <a:rPr lang="en-US" altLang="ko-KR" sz="1100" b="1" dirty="0">
                          <a:latin typeface="바탕체"/>
                        </a:rPr>
                        <a:t>2006.29 </a:t>
                      </a:r>
                      <a:r>
                        <a:rPr lang="ko-KR" altLang="en-US" sz="1100" b="1" dirty="0">
                          <a:latin typeface="바탕체"/>
                        </a:rPr>
                        <a:t>선고 </a:t>
                      </a:r>
                      <a:r>
                        <a:rPr lang="en-US" altLang="ko-KR" sz="1100" b="1" dirty="0">
                          <a:latin typeface="바탕체"/>
                        </a:rPr>
                        <a:t>2004</a:t>
                      </a:r>
                      <a:r>
                        <a:rPr lang="ko-KR" altLang="en-US" sz="1100" b="1" dirty="0">
                          <a:latin typeface="바탕체"/>
                        </a:rPr>
                        <a:t>다</a:t>
                      </a:r>
                      <a:r>
                        <a:rPr lang="en-US" altLang="ko-KR" sz="1100" b="1" dirty="0">
                          <a:latin typeface="바탕체"/>
                        </a:rPr>
                        <a:t>3598</a:t>
                      </a:r>
                      <a:r>
                        <a:rPr lang="ko-KR" altLang="en-US" sz="1100" b="1" dirty="0">
                          <a:latin typeface="바탕체"/>
                        </a:rPr>
                        <a:t>판결</a:t>
                      </a:r>
                      <a:r>
                        <a:rPr lang="en-US" altLang="ko-KR" sz="1100" b="1" dirty="0">
                          <a:latin typeface="바탕체"/>
                        </a:rPr>
                        <a:t>)</a:t>
                      </a:r>
                    </a:p>
                    <a:p>
                      <a:pPr latinLnBrk="1"/>
                      <a:r>
                        <a:rPr lang="en-US" altLang="ko-KR" sz="1100" b="1" dirty="0">
                          <a:latin typeface="바탕체"/>
                        </a:rPr>
                        <a:t>‘</a:t>
                      </a:r>
                      <a:r>
                        <a:rPr lang="ko-KR" altLang="en-US" sz="1100" b="1" dirty="0">
                          <a:latin typeface="바탕체"/>
                        </a:rPr>
                        <a:t>관리비 납부를 연체할 경우 부과되는 연체료는 위약벌의 일종이고</a:t>
                      </a:r>
                      <a:r>
                        <a:rPr lang="en-US" altLang="ko-KR" sz="1100" b="1" dirty="0">
                          <a:latin typeface="바탕체"/>
                        </a:rPr>
                        <a:t>, </a:t>
                      </a:r>
                      <a:r>
                        <a:rPr lang="ko-KR" altLang="en-US" sz="1100" b="1" dirty="0">
                          <a:latin typeface="바탕체"/>
                        </a:rPr>
                        <a:t>前구분소유자의 특별승계인의 경락자가 체납된 공용부분 관리비를 승계 </a:t>
                      </a:r>
                      <a:r>
                        <a:rPr lang="ko-KR" altLang="en-US" sz="1100" b="1" dirty="0" err="1">
                          <a:latin typeface="바탕체"/>
                        </a:rPr>
                        <a:t>한다고해서</a:t>
                      </a:r>
                      <a:r>
                        <a:rPr lang="ko-KR" altLang="en-US" sz="1100" b="1" dirty="0">
                          <a:latin typeface="바탕체"/>
                        </a:rPr>
                        <a:t> 前구분소유자가 관리비 납부를 연체함 으로 인해 이미 발생하게 된 법률효과까지 그대로 승계되는 것은 아니므로</a:t>
                      </a:r>
                    </a:p>
                    <a:p>
                      <a:pPr latinLnBrk="1"/>
                      <a:r>
                        <a:rPr lang="ko-KR" altLang="en-US" sz="1100" b="1" dirty="0">
                          <a:latin typeface="바탕체"/>
                        </a:rPr>
                        <a:t>공용부분 관리비에 대한 연체료는 특별승계인에게 승계되는 공용부분 관리비에 포함되지 않는다</a:t>
                      </a:r>
                      <a:r>
                        <a:rPr lang="en-US" altLang="ko-KR" sz="1100" b="1" dirty="0">
                          <a:latin typeface="바탕체"/>
                        </a:rPr>
                        <a:t>.’ </a:t>
                      </a:r>
                      <a:r>
                        <a:rPr lang="ko-KR" altLang="en-US" sz="1100" b="1" dirty="0">
                          <a:latin typeface="바탕체"/>
                        </a:rPr>
                        <a:t>라는 판례가 있습니다</a:t>
                      </a:r>
                      <a:r>
                        <a:rPr lang="en-US" altLang="ko-KR" sz="1100" b="1" dirty="0">
                          <a:latin typeface="바탕체"/>
                        </a:rPr>
                        <a:t>.</a:t>
                      </a:r>
                    </a:p>
                    <a:p>
                      <a:pPr latinLnBrk="1"/>
                      <a:endParaRPr lang="en-US" altLang="ko-KR" sz="1100" b="1" dirty="0">
                        <a:latin typeface="바탕체"/>
                      </a:endParaRPr>
                    </a:p>
                    <a:p>
                      <a:pPr latinLnBrk="1"/>
                      <a:r>
                        <a:rPr lang="ko-KR" altLang="en-US" sz="1100" b="1" dirty="0">
                          <a:latin typeface="바탕체"/>
                        </a:rPr>
                        <a:t>단</a:t>
                      </a:r>
                      <a:r>
                        <a:rPr lang="en-US" altLang="ko-KR" sz="1100" b="1" dirty="0">
                          <a:latin typeface="바탕체"/>
                        </a:rPr>
                        <a:t>, </a:t>
                      </a:r>
                      <a:r>
                        <a:rPr lang="ko-KR" altLang="en-US" sz="1100" b="1" dirty="0">
                          <a:latin typeface="바탕체"/>
                        </a:rPr>
                        <a:t>관리사무소가 사전에 관리비 채권에 대한 소멸시효 중단을 위한 조치를 </a:t>
                      </a:r>
                      <a:r>
                        <a:rPr lang="ko-KR" altLang="en-US" sz="1100" b="1" dirty="0" err="1">
                          <a:latin typeface="바탕체"/>
                        </a:rPr>
                        <a:t>해두었다면</a:t>
                      </a:r>
                      <a:r>
                        <a:rPr lang="ko-KR" altLang="en-US" sz="1100" b="1" dirty="0">
                          <a:latin typeface="바탕체"/>
                        </a:rPr>
                        <a:t> </a:t>
                      </a:r>
                      <a:r>
                        <a:rPr lang="en-US" altLang="ko-KR" sz="1100" b="1" dirty="0">
                          <a:latin typeface="바탕체"/>
                        </a:rPr>
                        <a:t>3</a:t>
                      </a:r>
                      <a:r>
                        <a:rPr lang="ko-KR" altLang="en-US" sz="1100" b="1" dirty="0">
                          <a:latin typeface="바탕체"/>
                        </a:rPr>
                        <a:t>년 </a:t>
                      </a:r>
                      <a:r>
                        <a:rPr lang="ko-KR" altLang="en-US" sz="1100" b="1" dirty="0" err="1">
                          <a:latin typeface="바탕체"/>
                        </a:rPr>
                        <a:t>경과분</a:t>
                      </a:r>
                      <a:r>
                        <a:rPr lang="ko-KR" altLang="en-US" sz="1100" b="1" dirty="0">
                          <a:latin typeface="바탕체"/>
                        </a:rPr>
                        <a:t> 까지 책임져야 하는 상황이 발생할 수 도 있습니다</a:t>
                      </a:r>
                      <a:r>
                        <a:rPr lang="en-US" altLang="ko-KR" sz="1100" b="1" dirty="0">
                          <a:latin typeface="바탕체"/>
                        </a:rPr>
                        <a:t>. (</a:t>
                      </a:r>
                      <a:r>
                        <a:rPr lang="ko-KR" altLang="en-US" sz="1100" b="1" dirty="0">
                          <a:latin typeface="바탕체"/>
                        </a:rPr>
                        <a:t>가압류</a:t>
                      </a:r>
                      <a:r>
                        <a:rPr lang="en-US" altLang="ko-KR" sz="1100" b="1" dirty="0">
                          <a:latin typeface="바탕체"/>
                        </a:rPr>
                        <a:t>, </a:t>
                      </a:r>
                      <a:r>
                        <a:rPr lang="ko-KR" altLang="en-US" sz="1100" b="1" dirty="0">
                          <a:latin typeface="바탕체"/>
                        </a:rPr>
                        <a:t>지급명령 등</a:t>
                      </a:r>
                      <a:r>
                        <a:rPr lang="en-US" altLang="ko-KR" sz="1100" b="1" dirty="0">
                          <a:latin typeface="바탕체"/>
                        </a:rPr>
                        <a:t>)</a:t>
                      </a:r>
                      <a:endParaRPr lang="en-US" altLang="ko-KR" sz="1100" b="1" dirty="0"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5153422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endParaRPr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86510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8555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37658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251</TotalTime>
  <Words>314</Words>
  <Application>Microsoft Office PowerPoint</Application>
  <PresentationFormat>A4 용지(210x297mm)</PresentationFormat>
  <Paragraphs>32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바탕체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 Sung Song</dc:creator>
  <cp:lastModifiedBy>비 비</cp:lastModifiedBy>
  <cp:revision>30</cp:revision>
  <cp:lastPrinted>2022-06-27T07:02:32Z</cp:lastPrinted>
  <dcterms:created xsi:type="dcterms:W3CDTF">2022-06-27T05:44:38Z</dcterms:created>
  <dcterms:modified xsi:type="dcterms:W3CDTF">2026-07-01T02:50:30Z</dcterms:modified>
</cp:coreProperties>
</file>